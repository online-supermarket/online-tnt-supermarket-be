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Load &amp; Performance Testing — Apache JMeter</a:t>
            </a:r>
          </a:p>
          <a:p>
            <a:pPr>
              <a:defRPr sz="1300">
                <a:solidFill>
                  <a:srgbClr val="A0A5B9"/>
                </a:solidFill>
                <a:latin typeface="Calibri"/>
              </a:defRPr>
            </a:pPr>
            <a:r>
              <a:t>SE3112 Advanced Software Engineering  |  Individual Assessment  |  TNT Online Supermarket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411480"/>
            <a:ext cx="1737360" cy="640080"/>
          </a:xfrm>
          <a:prstGeom prst="round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ID: IT24101022</a:t>
            </a:r>
            <a:br/>
            <a:r>
              <a:t>Slide 1 of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265176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100" b="1">
                <a:solidFill>
                  <a:srgbClr val="7C5DFA"/>
                </a:solidFill>
                <a:latin typeface="Calibri"/>
              </a:defRPr>
            </a:pPr>
            <a:r>
              <a:t>TARGET ARCHITECTURE &amp; WORKLOAD MODEL</a:t>
            </a:r>
          </a:p>
          <a:p>
            <a:pPr>
              <a:defRPr sz="1150">
                <a:solidFill>
                  <a:srgbClr val="A0A5B9"/>
                </a:solidFill>
                <a:latin typeface="Calibri"/>
              </a:defRPr>
            </a:pPr>
            <a:r>
              <a:t>• Objective: Simulate 110 concurrent active shoppers hitting Ocelot API Gateway.</a:t>
            </a:r>
          </a:p>
          <a:p>
            <a:pPr>
              <a:defRPr sz="1150">
                <a:solidFill>
                  <a:srgbClr val="A0A5B9"/>
                </a:solidFill>
                <a:latin typeface="Calibri"/>
              </a:defRPr>
            </a:pPr>
            <a:r>
              <a:t>• Scope: Test resilience across Identity, Catalog, Order &amp; Reporting microservices.</a:t>
            </a:r>
          </a:p>
          <a:p>
            <a:pPr>
              <a:defRPr sz="1150">
                <a:solidFill>
                  <a:srgbClr val="A0A5B9"/>
                </a:solidFill>
                <a:latin typeface="Calibri"/>
              </a:defRPr>
            </a:pPr>
            <a:r>
              <a:t>• Workload Parameters: 110 Virtual Users, 10s ramp-up period, 5 loops per user.</a:t>
            </a:r>
          </a:p>
          <a:p>
            <a:pPr>
              <a:defRPr sz="1150">
                <a:solidFill>
                  <a:srgbClr val="A0A5B9"/>
                </a:solidFill>
                <a:latin typeface="Calibri"/>
              </a:defRPr>
            </a:pPr>
            <a:r>
              <a:t>• Human Pacing: 100ms - 300ms Uniform Random Timer (avoids socket starvation).</a:t>
            </a:r>
          </a:p>
          <a:p>
            <a:pPr>
              <a:defRPr sz="1150">
                <a:solidFill>
                  <a:srgbClr val="A0A5B9"/>
                </a:solidFill>
                <a:latin typeface="Calibri"/>
              </a:defRPr>
            </a:pPr>
            <a:r>
              <a:t>• Dual-Layer Assertions: HTTP 200 OK Status and strict SLA Latency &lt; 1,500ms.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51960"/>
            <a:ext cx="5303520" cy="105156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000" b="1">
                <a:solidFill>
                  <a:srgbClr val="38BDF8"/>
                </a:solidFill>
                <a:latin typeface="Calibri"/>
              </a:defRPr>
            </a:pPr>
            <a:r>
              <a:t>8 MISSION-CRITICAL ENDPOINTS TESTED</a:t>
            </a: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Gateway /health  •  Identity /health  •  Catalog /health  •  Browse /products</a:t>
            </a:r>
            <a:br/>
            <a:r>
              <a:t>Browse /categories  •  Order /health  •  Reporting /health  •  Token Filter /products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40680"/>
            <a:ext cx="5303520" cy="1005840"/>
          </a:xfrm>
          <a:prstGeom prst="roundRect">
            <a:avLst/>
          </a:prstGeom>
          <a:solidFill>
            <a:srgbClr val="0A0C12"/>
          </a:solidFill>
          <a:ln w="1270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&gt;_ EXECUTION COMMANDS (HEADLESS NON-GUI)</a:t>
            </a:r>
          </a:p>
          <a:p>
            <a:pPr>
              <a:defRPr sz="950">
                <a:solidFill>
                  <a:srgbClr val="DCE1F0"/>
                </a:solidFill>
                <a:latin typeface="Consolas"/>
              </a:defRPr>
            </a:pPr>
            <a:r>
              <a:t>jmeter -n -t TNT_Supermarket_Performance_Test.jmx -l jmeter_results.jtl -e -o jmeter_html_report</a:t>
            </a:r>
            <a:br/>
            <a:r>
              <a:t>One-Click Batch Runner: .\run_performance_test.bat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98348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jmeter_response_time_percen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45920"/>
            <a:ext cx="4846320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6035040"/>
            <a:ext cx="5120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i="1">
                <a:solidFill>
                  <a:srgbClr val="A0A5B9"/>
                </a:solidFill>
                <a:latin typeface="Calibri"/>
              </a:defRPr>
            </a:pPr>
            <a:r>
              <a:t>Figure: Apache JMeter Response Time Percentiles (95% requests &lt; 28ms, SLA &lt; 1500ms)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Benchmark Results &amp; GitHub Actions CI/CD Proof</a:t>
            </a:r>
          </a:p>
          <a:p>
            <a:pPr>
              <a:defRPr sz="1300">
                <a:solidFill>
                  <a:srgbClr val="A0A5B9"/>
                </a:solidFill>
                <a:latin typeface="Calibri"/>
              </a:defRPr>
            </a:pPr>
            <a:r>
              <a:t>110 Virtual Users Peak Load  |  Branch: feature/se3112-performance-jmeter  |  Author: IT24101022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411480"/>
            <a:ext cx="173736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ID: IT24101022</a:t>
            </a:r>
            <a:br/>
            <a:r>
              <a:t>Slide 2 of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645920" cy="100584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440.97</a:t>
            </a:r>
          </a:p>
          <a:p>
            <a:pPr algn="ctr">
              <a:defRPr sz="950">
                <a:solidFill>
                  <a:srgbClr val="A0A5B9"/>
                </a:solidFill>
              </a:defRPr>
            </a:pPr>
            <a:r>
              <a:t>Throughput (req/s)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463040"/>
            <a:ext cx="1645920" cy="100584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7.00 ms</a:t>
            </a:r>
          </a:p>
          <a:p>
            <a:pPr algn="ctr">
              <a:defRPr sz="950">
                <a:solidFill>
                  <a:srgbClr val="A0A5B9"/>
                </a:solidFill>
              </a:defRPr>
            </a:pPr>
            <a:r>
              <a:t>Median Latency (p50)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1645920" cy="100584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0.00%</a:t>
            </a:r>
          </a:p>
          <a:p>
            <a:pPr algn="ctr">
              <a:defRPr sz="950">
                <a:solidFill>
                  <a:srgbClr val="A0A5B9"/>
                </a:solidFill>
              </a:defRPr>
            </a:pPr>
            <a:r>
              <a:t>Error Rate (4,400 Pass)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5212080" cy="233172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SLA COMPLIANCE &amp; PERFORMANCE METRICS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✓ Total Samples: 4,400 Requests Dispatched (100% Passed without timeouts)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✓ SLA Threshold: Strict &lt; 1,500ms Assertion (Zero SLA Breaches)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✓ 95th Percentile (p95): 28.00 ms (53× Faster than Required SLA)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✓ 99th Percentile (p99): 60.00 ms under sustained 110 user concurrent load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✓ APDEX Score: 0.98+ / 1.00 (Ranked 'Excellent' User Satisfaction)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5212080" cy="137160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050" b="1">
                <a:solidFill>
                  <a:srgbClr val="38BDF8"/>
                </a:solidFill>
                <a:latin typeface="Calibri"/>
              </a:defRPr>
            </a:pPr>
            <a:r>
              <a:t>CI/CD PIPELINE AUTOMATION HIGHLIGHTS</a:t>
            </a:r>
          </a:p>
          <a:p>
            <a:pPr>
              <a:defRPr sz="1050">
                <a:solidFill>
                  <a:srgbClr val="A0A5B9"/>
                </a:solidFill>
                <a:latin typeface="Calibri"/>
              </a:defRPr>
            </a:pPr>
            <a:r>
              <a:t>• Standalone 3-Stage Pipeline: Validate -&gt; JMeter Load Test -&gt; Summary Table.</a:t>
            </a:r>
            <a:br/>
            <a:r>
              <a:t>• Fast Feedback: Total workflow runtime is only 2m 1s with 100% green checks.</a:t>
            </a:r>
            <a:br/>
            <a:r>
              <a:t>• Downloadable Artifacts: Complete interactive HTML dashboard automatically archived.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92608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github_actions_jmete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029200" cy="2514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4114800"/>
            <a:ext cx="52120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ctr">
              <a:defRPr sz="950" i="1">
                <a:solidFill>
                  <a:srgbClr val="A0A5B9"/>
                </a:solidFill>
                <a:latin typeface="Calibri"/>
              </a:defRPr>
            </a:pPr>
            <a:r>
              <a:t>Figure 1: GitHub Actions Standalone Pipeline — 3-Stage Run by IT24101022 (Success: 2m 1s)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480560"/>
            <a:ext cx="5212080" cy="1965960"/>
          </a:xfrm>
          <a:prstGeom prst="roundRect">
            <a:avLst/>
          </a:prstGeom>
          <a:solidFill>
            <a:srgbClr val="1A1E2E"/>
          </a:solidFill>
          <a:ln w="1270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7_github_commits_it24101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572000"/>
            <a:ext cx="5029200" cy="1600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6217920"/>
            <a:ext cx="5212080" cy="22860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ctr">
              <a:defRPr sz="950" i="1">
                <a:solidFill>
                  <a:srgbClr val="A0A5B9"/>
                </a:solidFill>
                <a:latin typeface="Calibri"/>
              </a:defRPr>
            </a:pPr>
            <a:r>
              <a:t>Figure 2: Verified Commit History on feature/se3112-performance-jmeter by IT24101022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